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0"/>
            <a:ext cx="54864" cy="5143500"/>
          </a:xfrm>
          <a:prstGeom prst="rect">
            <a:avLst/>
          </a:prstGeom>
          <a:solidFill>
            <a:srgbClr val="4DABC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Somatic Mutation Annotation and Reporting Tool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Walkthrough — Step by Step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1536192" cy="621792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4DAB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VCF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3712464"/>
            <a:ext cx="164592" cy="0"/>
          </a:xfrm>
          <a:prstGeom prst="line">
            <a:avLst/>
          </a:prstGeom>
          <a:noFill/>
          <a:ln w="19050">
            <a:solidFill>
              <a:srgbClr val="4DAB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7984" y="3401568"/>
            <a:ext cx="1536192" cy="621792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4DAB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3401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Annotation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94176" y="3712464"/>
            <a:ext cx="164592" cy="0"/>
          </a:xfrm>
          <a:prstGeom prst="line">
            <a:avLst/>
          </a:prstGeom>
          <a:noFill/>
          <a:ln w="19050">
            <a:solidFill>
              <a:srgbClr val="4DAB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58768" y="3401568"/>
            <a:ext cx="1536192" cy="621792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4DAB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3401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3712464"/>
            <a:ext cx="164592" cy="0"/>
          </a:xfrm>
          <a:prstGeom prst="line">
            <a:avLst/>
          </a:prstGeom>
          <a:noFill/>
          <a:ln w="19050">
            <a:solidFill>
              <a:srgbClr val="4DAB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9552" y="3401568"/>
            <a:ext cx="1536192" cy="621792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4DAB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3401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95744" y="3712464"/>
            <a:ext cx="164592" cy="0"/>
          </a:xfrm>
          <a:prstGeom prst="line">
            <a:avLst/>
          </a:prstGeom>
          <a:noFill/>
          <a:ln w="19050">
            <a:solidFill>
              <a:srgbClr val="4DAB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0336" y="3401568"/>
            <a:ext cx="1536192" cy="621792"/>
          </a:xfrm>
          <a:prstGeom prst="rect">
            <a:avLst/>
          </a:prstGeom>
          <a:solidFill>
            <a:srgbClr val="028090">
              <a:alpha val="75000"/>
            </a:srgbClr>
          </a:solidFill>
          <a:ln w="12700">
            <a:solidFill>
              <a:srgbClr val="4DAB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0336" y="3401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University Hospital Southampton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7-step automated workflow · Docker container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804672"/>
            <a:ext cx="950976" cy="749808"/>
          </a:xfrm>
          <a:prstGeom prst="rect">
            <a:avLst/>
          </a:prstGeom>
          <a:solidFill>
            <a:srgbClr val="64748B">
              <a:alpha val="6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96696" y="841248"/>
            <a:ext cx="201168" cy="201168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bcftools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43584" y="1179576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344168"/>
            <a:ext cx="804672" cy="164592"/>
          </a:xfrm>
          <a:prstGeom prst="rect">
            <a:avLst/>
          </a:prstGeom>
          <a:solidFill>
            <a:srgbClr val="F39C12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441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skipped in demo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0" y="804672"/>
            <a:ext cx="950976" cy="749808"/>
          </a:xfrm>
          <a:prstGeom prst="rect">
            <a:avLst/>
          </a:prstGeom>
          <a:solidFill>
            <a:srgbClr val="64748B">
              <a:alpha val="6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75688" y="841248"/>
            <a:ext cx="201168" cy="201168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17" name="Text 15"/>
          <p:cNvSpPr/>
          <p:nvPr/>
        </p:nvSpPr>
        <p:spPr>
          <a:xfrm>
            <a:off x="2075688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LiftOver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GATK 4.6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22576" y="1179576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1344168"/>
            <a:ext cx="804672" cy="164592"/>
          </a:xfrm>
          <a:prstGeom prst="rect">
            <a:avLst/>
          </a:prstGeom>
          <a:solidFill>
            <a:srgbClr val="F39C12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444752" y="13441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skipped in demo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450592" y="804672"/>
            <a:ext cx="950976" cy="74980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841248"/>
            <a:ext cx="201168" cy="201168"/>
          </a:xfrm>
          <a:prstGeom prst="ellipse">
            <a:avLst/>
          </a:prstGeom>
          <a:solidFill>
            <a:srgbClr val="4DABCD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50592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50592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VEP 114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01568" y="1179576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9584" y="804672"/>
            <a:ext cx="950976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33672" y="841248"/>
            <a:ext cx="201168" cy="201168"/>
          </a:xfrm>
          <a:prstGeom prst="ellipse">
            <a:avLst/>
          </a:prstGeom>
          <a:solidFill>
            <a:srgbClr val="4DABCD"/>
          </a:solidFill>
          <a:ln/>
        </p:spPr>
      </p:sp>
      <p:sp>
        <p:nvSpPr>
          <p:cNvPr id="31" name="Text 29"/>
          <p:cNvSpPr/>
          <p:nvPr/>
        </p:nvSpPr>
        <p:spPr>
          <a:xfrm>
            <a:off x="4233672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29584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9584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oncokb2.0.py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80560" y="1179576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804672"/>
            <a:ext cx="950976" cy="74980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12664" y="841248"/>
            <a:ext cx="201168" cy="201168"/>
          </a:xfrm>
          <a:prstGeom prst="ellipse">
            <a:avLst/>
          </a:prstGeom>
          <a:solidFill>
            <a:srgbClr val="4DABCD"/>
          </a:solidFill>
          <a:ln/>
        </p:spPr>
      </p:sp>
      <p:sp>
        <p:nvSpPr>
          <p:cNvPr id="37" name="Text 35"/>
          <p:cNvSpPr/>
          <p:nvPr/>
        </p:nvSpPr>
        <p:spPr>
          <a:xfrm>
            <a:off x="5312664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08576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08576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vcf2table.py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59552" y="1179576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7568" y="804672"/>
            <a:ext cx="950976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91656" y="841248"/>
            <a:ext cx="201168" cy="201168"/>
          </a:xfrm>
          <a:prstGeom prst="ellipse">
            <a:avLst/>
          </a:prstGeom>
          <a:solidFill>
            <a:srgbClr val="4DABCD"/>
          </a:solidFill>
          <a:ln/>
        </p:spPr>
      </p:sp>
      <p:sp>
        <p:nvSpPr>
          <p:cNvPr id="43" name="Text 41"/>
          <p:cNvSpPr/>
          <p:nvPr/>
        </p:nvSpPr>
        <p:spPr>
          <a:xfrm>
            <a:off x="6391656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87568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87568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OncoKB MAF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638544" y="1179576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804672"/>
            <a:ext cx="950976" cy="74980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70648" y="841248"/>
            <a:ext cx="201168" cy="201168"/>
          </a:xfrm>
          <a:prstGeom prst="ellipse">
            <a:avLst/>
          </a:prstGeom>
          <a:solidFill>
            <a:srgbClr val="4DABCD"/>
          </a:solidFill>
          <a:ln/>
        </p:spPr>
      </p:sp>
      <p:sp>
        <p:nvSpPr>
          <p:cNvPr id="49" name="Text 47"/>
          <p:cNvSpPr/>
          <p:nvPr/>
        </p:nvSpPr>
        <p:spPr>
          <a:xfrm>
            <a:off x="7470648" y="841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0" y="859536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66560" y="1353312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post_analysis.py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92608" y="548640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VCF(s)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68096" y="749808"/>
            <a:ext cx="0" cy="5486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82128" y="1783080"/>
            <a:ext cx="1170432" cy="5212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882128" y="181051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tier1.maf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882128" y="2066544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fields · MAF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882128" y="2441448"/>
            <a:ext cx="1170432" cy="52120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882128" y="246888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tier2.tsv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882128" y="272491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Bioinformaticians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882128" y="3099816"/>
            <a:ext cx="1170432" cy="521208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882128" y="312724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tier3.tsv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882128" y="3383280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report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17536" y="1179576"/>
            <a:ext cx="25603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1874520"/>
            <a:ext cx="73609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38912" y="1920240"/>
            <a:ext cx="7086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38912" y="2148840"/>
            <a:ext cx="7086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[Docker]  Runs in a single Docker container — identical results across institutions, no setup required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38912" y="2377440"/>
            <a:ext cx="7086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[Offline VEP]  VEP uses a 25 GB pre-downloaded merged cache — no internet required for annotation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38912" y="2606040"/>
            <a:ext cx="7086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[Transcript whitelist]  3-tier NM prioritisation: curated whitelist -&gt; MANE Select -&gt; VEP fallback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38912" y="2834640"/>
            <a:ext cx="7086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[OncoKB API]  Live REST API returns oncogenicity, therapeutic, diagnostic &amp; prognostic levels per variant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" y="3182112"/>
            <a:ext cx="7360920" cy="1536192"/>
          </a:xfrm>
          <a:prstGeom prst="rect">
            <a:avLst/>
          </a:prstGeom>
          <a:solidFill>
            <a:srgbClr val="1B3A5C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38912" y="3236976"/>
            <a:ext cx="7086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 suites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38912" y="3511296"/>
            <a:ext cx="137160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3" name="Text 71"/>
          <p:cNvSpPr/>
          <p:nvPr/>
        </p:nvSpPr>
        <p:spPr>
          <a:xfrm>
            <a:off x="438912" y="3511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883664" y="3511296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curated variants — field-level comparison against OncoKB, Ensembl REST &amp; CIViC live APIs (23 fields each)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38912" y="3895344"/>
            <a:ext cx="137160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6" name="Text 74"/>
          <p:cNvSpPr/>
          <p:nvPr/>
        </p:nvSpPr>
        <p:spPr>
          <a:xfrm>
            <a:off x="438912" y="3895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2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883664" y="3895344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Variant-caller compatibility — MuTect2, Strelka, SomaticSniper, Pisces VCF format differences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38912" y="4279392"/>
            <a:ext cx="137160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9" name="Text 77"/>
          <p:cNvSpPr/>
          <p:nvPr/>
        </p:nvSpPr>
        <p:spPr>
          <a:xfrm>
            <a:off x="438912" y="4279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3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883664" y="427939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 impact — same VCF, two whitelist files; confirms DIFFER + API-validated correctness per isoform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VCF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somatic variants · 2 SNVs shown as running examples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182880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768096"/>
            <a:ext cx="841248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##fileformat=VCFv4.2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##FILTER=&lt;ID=PASS,Description="All filters passed"&gt;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##INFO=&lt;ID=SVTYPE,...&gt;  ##INFO=&lt;ID=END,...&gt;  ##INFO=&lt;ID=SVLEN,...&gt;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#CHROM   POS        ID                       REF  ALT    QUAL  FILTER  INFO                        FORMAT    TUMOR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chr7     55191822   EGFR_L858R               T    G      .     PASS    .                           GT:AF:DP  0/1:0.35:500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chr17    7675088    TP53_R175H               C    T      .     PASS    .                           GT:AF:DP  0/1:0.45:600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chr9     21990000   MantaDEL:CDKN2A_CDKN2B  N    &lt;DEL&gt;  .     PASS    SVTYPE=DEL;END=22005000     GT:AF:DP  0/1:0.50:300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chr8     38417331   FGFR1_N546K              G    T      .     PASS    .                           GT:AF:DP  0/1:0.40:450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74320" y="2633472"/>
            <a:ext cx="8595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summary: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907792"/>
            <a:ext cx="36576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SNV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50392" y="290779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EGFR L858R — chr7:55,191,822 T&gt;G  ·  AF=0.35  ·  DP=500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154680"/>
            <a:ext cx="36576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50392" y="31546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TP53 R175H — chr17:7,675,088 C&gt;T  ·  AF=0.45  ·  DP=600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401568"/>
            <a:ext cx="36576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401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0392" y="340156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chr9 DEL — MantaDEL, 15 kb deletion (SVTYPE=DEL; END=22005000; SVLEN=−15000)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648456"/>
            <a:ext cx="365760" cy="182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648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SNV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50392" y="364845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FGFR1 N546K — chr8:38,417,331 G&gt;T  ·  AF=0.40  ·  DP=450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059936"/>
            <a:ext cx="8595360" cy="713232"/>
          </a:xfrm>
          <a:prstGeom prst="rect">
            <a:avLst/>
          </a:prstGeom>
          <a:solidFill>
            <a:srgbClr val="1B3A5C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4114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 / POS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10512" y="4114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Chromosome and genomic coordinate (GRCh38)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3159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/ ALT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10512" y="431596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 and alternate allele  ·  &lt;DEL&gt; denotes a structural deletion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4517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/ DP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10512" y="4517136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Tumour allele fraction and read depth from the FORMAT/TUMOR columns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Annotation — Step 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genomic change → one row per overlapping transcript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94944"/>
            <a:ext cx="8595360" cy="274320"/>
          </a:xfrm>
          <a:prstGeom prst="rect">
            <a:avLst/>
          </a:prstGeom>
          <a:solidFill>
            <a:srgbClr val="1E2D3D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315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chr7  55191822  EGFR_L858R  T → G  (PASS)       VEP produces ~20 annotation rows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8595360" cy="2468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42416"/>
            <a:ext cx="1636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(NM ID)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02536" y="1042416"/>
            <a:ext cx="13898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47288" y="1042416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6008" y="1042416"/>
            <a:ext cx="11521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43016" y="1042416"/>
            <a:ext cx="5852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83096" y="1042416"/>
            <a:ext cx="10607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 tag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98664" y="1042416"/>
            <a:ext cx="70408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271016"/>
            <a:ext cx="8595360" cy="283464"/>
          </a:xfrm>
          <a:prstGeom prst="rect">
            <a:avLst/>
          </a:prstGeom>
          <a:solidFill>
            <a:srgbClr val="E2F5E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271016"/>
            <a:ext cx="45720" cy="2834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131673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NM_005228.5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020824" y="131673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missense_variant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65576" y="13167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c.2573T&gt;G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54296" y="131673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p.Leu858Arg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61304" y="13167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EGFR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01384" y="131673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 Select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16952" y="131673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1581912"/>
            <a:ext cx="8595360" cy="28346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162763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NM_001346897.2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20824" y="1627632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missense_variant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65576" y="1627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c.2438T&gt;G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54296" y="162763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p.Leu813Arg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61304" y="16276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EGFR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1627632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16952" y="1627632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1892808"/>
            <a:ext cx="859536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193852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ENST00000454757.6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020824" y="193852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missense_variant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65576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c.2573T&gt;G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54296" y="193852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p.Leu858Arg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61304" y="19385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EGFR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01384" y="1938528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616952" y="1938528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2203704"/>
            <a:ext cx="8595360" cy="28346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224942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NM_001346898.2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020824" y="224942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3_prime_UTR_variant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65576" y="22494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c.*94T&gt;G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54296" y="2249424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61304" y="22494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EGFR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01384" y="224942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616952" y="2249424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2514600"/>
            <a:ext cx="859536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256032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ENST00000442591.6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020824" y="256032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intron_variant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65576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c.2372+54T&gt;G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54296" y="256032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61304" y="2560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EGFR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01384" y="2560320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616952" y="2560320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2825496"/>
            <a:ext cx="8595360" cy="28346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287121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+15 more transcripts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020824" y="28712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465576" y="28712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54296" y="287121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61304" y="28712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01384" y="28712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616952" y="287121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320040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57200" y="323697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!  The same genomic position produces DIFFERENT protein changes depending on the isoform used.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3A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 NM_005228 -&gt; p.Leu858Arg  ·  NM_001346897 -&gt; p.Leu813Arg  -&gt;  only one of these has OncoKB evidence.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3767328"/>
            <a:ext cx="8595360" cy="274320"/>
          </a:xfrm>
          <a:prstGeom prst="rect">
            <a:avLst/>
          </a:prstGeom>
          <a:solidFill>
            <a:srgbClr val="1B3A5C">
              <a:alpha val="8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380390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VEP also annotates:  SpliceAI scores  ·  REVEL (missense pathogenicity)  ·  ClinVar  ·  CancerHotspots  ·  CIViC  ·  LOEUF constraint  ·  gnomAD frequencies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38912" y="4160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next?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38912" y="4361688"/>
            <a:ext cx="8275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VEP-annotated VCF is written to  AnnotatedVcf/  with all CSQ entries intact.  The next step (oncokb2.0.py) reads this file variant by variant, applies the 3-tier transcript prioritisation logic to select ONE transcript from the CSQ field, and uses the resulting gene symbol / protein change to query the OncoKB REST API.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Prioritisation — Step 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3-tier NM whitelist · the key innovation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94944"/>
            <a:ext cx="8595360" cy="256032"/>
          </a:xfrm>
          <a:prstGeom prst="rect">
            <a:avLst/>
          </a:prstGeom>
          <a:solidFill>
            <a:srgbClr val="1E2D3D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2237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VEP output: ~20 transcripts per variant  →  Which one drives the OncoKB query?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1005840" cy="896112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0789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33502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NM accession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curated whitelist?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80160" y="1472184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3350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98448" y="14996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7240" y="1920240"/>
            <a:ext cx="0" cy="292608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1938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1005840" cy="896112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2677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52374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 Select 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 Plus Clinical?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80160" y="2660904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25237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98448" y="26883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77240" y="3108960"/>
            <a:ext cx="0" cy="292608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12724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401568"/>
            <a:ext cx="1005840" cy="896112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4564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71246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VEP transcript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280160" y="3849624"/>
            <a:ext cx="5029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371246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298448" y="387705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48840" y="1005840"/>
            <a:ext cx="672084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286000" y="105156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examples from Verification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40280" y="1344168"/>
            <a:ext cx="6492240" cy="1115568"/>
          </a:xfrm>
          <a:prstGeom prst="rect">
            <a:avLst/>
          </a:prstGeom>
          <a:solidFill>
            <a:srgbClr val="EFF4F9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137160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L858R  (chr7:55,191,822 T&gt;G)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40280" y="1600200"/>
            <a:ext cx="6492240" cy="256032"/>
          </a:xfrm>
          <a:prstGeom prst="rect">
            <a:avLst/>
          </a:prstGeom>
          <a:solidFill>
            <a:srgbClr val="E2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2331720" y="1618488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NM_005228.5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04488" y="1618488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 Select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11496" y="1618488"/>
            <a:ext cx="15727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In whitelist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02552" y="1618488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→ SELECTED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331720" y="187452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NM_001346897.2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04488" y="1874520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11496" y="1874520"/>
            <a:ext cx="15727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Not in whitelist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02552" y="1874520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331720" y="2130552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ENST00000454757.6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04488" y="2130552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11496" y="2130552"/>
            <a:ext cx="15727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Not in whitelist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02552" y="2130552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40280" y="2514600"/>
            <a:ext cx="6492240" cy="914400"/>
          </a:xfrm>
          <a:prstGeom prst="rect">
            <a:avLst/>
          </a:prstGeom>
          <a:solidFill>
            <a:srgbClr val="EFF4F9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2542032"/>
            <a:ext cx="6309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chr9 DEL  (MantaDEL:CDKN2A_CDKN2B — gene symbol drives the OncoKB query)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331720" y="279806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NM_058195.4  (CDKN2A p14ARF)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73168" y="27980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In whitelist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28816" y="279806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→ SELECTED  (gene = CDKN2A → LEVEL_4)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331720" y="3090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NM_004936.4  (CDKN2B)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73168" y="30906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Also in whitelist — 2nd match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28816" y="3090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(v0.1.0 limitation)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40280" y="3502152"/>
            <a:ext cx="6492240" cy="658368"/>
          </a:xfrm>
          <a:prstGeom prst="rect">
            <a:avLst/>
          </a:prstGeom>
          <a:solidFill>
            <a:srgbClr val="FEF3CD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3529584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FGFR1 N546K — both NM_023110.3 (MANE) and NM_001174067.2 (TSO500 non-MANE) exist.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331720" y="3721608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4C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Tier 1 selects NM_023110.3 (MANE Select) if it is in the whitelist → p.Asn546Lys (Unknown).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B4C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the TSO500 non-MANE transcript is used instead → p.Asn577Lys (Likely Oncogenic, LEVEL_4) — a false positive.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Annotation — Step 4 (cont.)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Selected transcript → clinical evidence via REST API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713232"/>
            <a:ext cx="42519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4251960" cy="31089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31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L858R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0698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API Input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" y="1280160"/>
            <a:ext cx="4023360" cy="6217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1325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Hugo_Symbol: EGFR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HGVSp_Short: p.L858R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Endpoint: /mutations/byProteinChange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1956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↓  OncoKB REST 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" y="21945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Annotation Output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" y="240487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4323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0" y="2432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" y="277063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7980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Effect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27980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Gain-of-function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8328" y="313639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638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HIGHEST_LEVEL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316382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8328" y="350215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5295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LEVEL_1 drugs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35295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Afatinib · Osimertinib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Gefitinib · Dacomitinib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more agents (NSCLC)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8328" y="386791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8953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VARIANT_IN_ONCOKB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38953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8328" y="423367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42611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ONCOKB_HOTSPOT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28800" y="42611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713232"/>
            <a:ext cx="42519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713232"/>
            <a:ext cx="4251960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7315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chr9 DEL — CDKN2A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10698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API Input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18888" y="1280160"/>
            <a:ext cx="4023360" cy="6217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8" name="Text 36"/>
          <p:cNvSpPr/>
          <p:nvPr/>
        </p:nvSpPr>
        <p:spPr>
          <a:xfrm>
            <a:off x="4910328" y="1325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Hugo_Symbol: CDKN2A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CNA_Type: DELETION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AB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Endpoint: /copyNumberAlterations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1956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↓  OncoKB REST API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18888" y="21945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Annotation Output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18888" y="240487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24323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09360" y="2432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18888" y="277063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27980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Effect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27980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Loss-of-function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18888" y="313639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1638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HIGHEST_SENS_LVL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316382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18888" y="350215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73752" y="35295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LEVEL_4 drugs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0" y="35295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Palbociclib · Ribociclib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Abemaciclib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solid tumours)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18888" y="386791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73752" y="38953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VARIANT_IN_ONCOKB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38953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18888" y="4233672"/>
            <a:ext cx="4023360" cy="329184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42611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ONCOKB_HOTSPOT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09360" y="42611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5–7 — Table, MAF &amp; Output Tiers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Flat CSV → per-sample MAF → 3 audience-targeted files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13232"/>
            <a:ext cx="347472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13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vcf2table.py  —  flat CSV, one row per variant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595360" cy="23774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2412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Hugo_Symbol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6736" y="102412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NM_Transcript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87168" y="102412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HGVSp_Short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0" y="1024128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98848" y="1024128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04688" y="1024128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HIGHEST_LEVEL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28816" y="1024128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LEVEL_1 drugs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558784" y="102412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1243584"/>
            <a:ext cx="859536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271016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EGFR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16736" y="127101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NM_005228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87168" y="1271016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p.L858R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0" y="1271016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c.2573T&gt;G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98848" y="1271016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Oncogenic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04688" y="1271016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LEVEL_1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28816" y="1271016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Afatinib, Osimertinib…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58784" y="1271016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1490472"/>
            <a:ext cx="8595360" cy="228600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1517904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TP53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16736" y="151790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NM_000546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87168" y="1517904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p.R175H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0" y="151790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c.524G&gt;A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98848" y="1517904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Oncogenic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04688" y="151790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28816" y="1517904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58784" y="151790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1737360"/>
            <a:ext cx="859536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1764792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CDKN2A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16736" y="176479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NM_058195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87168" y="1764792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0" y="1764792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98848" y="1764792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Oncogenic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04688" y="1764792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28816" y="176479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558784" y="176479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1984248"/>
            <a:ext cx="8595360" cy="228600"/>
          </a:xfrm>
          <a:prstGeom prst="rect">
            <a:avLst/>
          </a:prstGeom>
          <a:solidFill>
            <a:srgbClr val="EFF4F9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2011680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FGFR1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16736" y="201168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NM_023110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87168" y="2011680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p.N546K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74720" y="2011680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c.1638C&gt;A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98848" y="2011680"/>
            <a:ext cx="950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Unknown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04688" y="2011680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28816" y="2011680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58784" y="201168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…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4320" y="22585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~300–900 columns total: all VEP fields + all OncoKB fields + JSON-expanded TX/DX/PX implications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2487168"/>
            <a:ext cx="4160520" cy="237744"/>
          </a:xfrm>
          <a:prstGeom prst="rect">
            <a:avLst/>
          </a:prstGeom>
          <a:solidFill>
            <a:srgbClr val="1B3A5C">
              <a:alpha val="9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249631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MafAnnotator   +   Step 7 · post_analysis.py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11480" y="2779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 Merge all per-sample MAFs into one combined result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0266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 Expand OncoKB JSON arrays → TX_0_drugs, DIAG_0_level, PX_0_tumorType, …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" y="32735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 Override MafAnnotator CNA output with values from the OncoKB API (Step 4)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" y="35204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 Split columns per Config.yaml → 3 audience-targeted output files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7673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 Write  #SMART_VERSION  header — every output file is self-describing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2487168"/>
            <a:ext cx="42062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2487168"/>
            <a:ext cx="4206240" cy="23774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4" name="Text 62"/>
          <p:cNvSpPr/>
          <p:nvPr/>
        </p:nvSpPr>
        <p:spPr>
          <a:xfrm>
            <a:off x="4754880" y="25054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Final_result_tier1.maf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360920" y="2514600"/>
            <a:ext cx="1417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Downstream tools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54880" y="27614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non-dropped fields  ·  Standard MAF format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300–900 columns  ·  #SMART_VERSION header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63440" y="3328416"/>
            <a:ext cx="42062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63440" y="3328416"/>
            <a:ext cx="4206240" cy="2377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0" y="33467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Final_result_tier2.tsv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360920" y="3355848"/>
            <a:ext cx="1417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Bioinformaticians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54880" y="360273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Selected fields  ·  2-row header (names + metadata)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VEP + key OncoKB fields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663440" y="4169664"/>
            <a:ext cx="42062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63440" y="4169664"/>
            <a:ext cx="4206240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4187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Final_result_tier3.tsv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360920" y="4197096"/>
            <a:ext cx="14173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scientists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754880" y="444398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Clinically relevant fields only  ·  Report-ready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OncoKB levels, consequences, hotspot flags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Transcript Selection — Verification 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VCF · different whitelist → different clinical result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694944"/>
            <a:ext cx="8595360" cy="274320"/>
          </a:xfrm>
          <a:prstGeom prst="rect">
            <a:avLst/>
          </a:prstGeom>
          <a:solidFill>
            <a:srgbClr val="1B3A5C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315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ABC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run twice on the same VCF:   Set A = clinically preferred transcripts  ·  Set B = alternative isoforms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8595360" cy="2468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42416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82496" y="1042416"/>
            <a:ext cx="347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84832" y="1042416"/>
            <a:ext cx="142646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1042416"/>
            <a:ext cx="10424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1042416"/>
            <a:ext cx="10241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42432" y="1042416"/>
            <a:ext cx="98755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84848" y="1042416"/>
            <a:ext cx="234086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consequence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271016"/>
            <a:ext cx="8595360" cy="429768"/>
          </a:xfrm>
          <a:prstGeom prst="rect">
            <a:avLst/>
          </a:prstGeom>
          <a:solidFill>
            <a:srgbClr val="D6E4F7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27101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30759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L858R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91640" y="130759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93976" y="130759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NM_005228.5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75304" y="130759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p.Leu858Arg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72584" y="13075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51576" y="1307592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93992" y="1307592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Gain-of-function · hotspot · 10 FDA therapies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1719072"/>
            <a:ext cx="8595360" cy="429768"/>
          </a:xfrm>
          <a:prstGeom prst="rect">
            <a:avLst/>
          </a:prstGeom>
          <a:solidFill>
            <a:srgbClr val="FEE2E2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719072"/>
            <a:ext cx="45720" cy="4297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91640" y="175564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✗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93976" y="175564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NM_001346897.2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575304" y="175564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p.Leu813Arg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72584" y="17556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51576" y="175564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93992" y="1755648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OncoKB → LEVEL_1 therapies missed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167128"/>
            <a:ext cx="8595360" cy="429768"/>
          </a:xfrm>
          <a:prstGeom prst="rect">
            <a:avLst/>
          </a:prstGeom>
          <a:solidFill>
            <a:srgbClr val="D6E4F7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167128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220370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R175H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91640" y="220370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093976" y="220370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NM_000546.6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575304" y="220370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p.Arg175His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72584" y="22037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751576" y="2203704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LEVEL_Px1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93992" y="2203704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Loss-of-function · hotspot · prognostic level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2615184"/>
            <a:ext cx="8595360" cy="429768"/>
          </a:xfrm>
          <a:prstGeom prst="rect">
            <a:avLst/>
          </a:prstGeom>
          <a:solidFill>
            <a:srgbClr val="FEE2E2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2615184"/>
            <a:ext cx="45720" cy="4297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2651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691640" y="265176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✗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093976" y="265176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NM_001126115.2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575304" y="265176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p.Arg43His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72584" y="2651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51576" y="265176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93992" y="2651760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175→43 shift · hotspot annotation lost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3063240"/>
            <a:ext cx="8595360" cy="429768"/>
          </a:xfrm>
          <a:prstGeom prst="rect">
            <a:avLst/>
          </a:prstGeom>
          <a:solidFill>
            <a:srgbClr val="D6E4F7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063240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309981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chr9 DEL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691640" y="3099816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093976" y="3099816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NM_058195.4 (CDKN2A)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575304" y="3099816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(DEL)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72584" y="3099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51576" y="3099816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LEVEL_4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93992" y="3099816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Loss-of-function · CDK4/6 inhibitors (Level 4)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3511296"/>
            <a:ext cx="8595360" cy="429768"/>
          </a:xfrm>
          <a:prstGeom prst="rect">
            <a:avLst/>
          </a:prstGeom>
          <a:solidFill>
            <a:srgbClr val="FEE2E2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3511296"/>
            <a:ext cx="45720" cy="4297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4" name="Text 62"/>
          <p:cNvSpPr/>
          <p:nvPr/>
        </p:nvSpPr>
        <p:spPr>
          <a:xfrm>
            <a:off x="320040" y="3547872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691640" y="354787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✗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093976" y="3547872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NM_004936.4 (CDKN2B)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575304" y="354787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(DEL)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672584" y="35478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751576" y="3547872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93992" y="3547872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therapeutic level — different gene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" y="3959352"/>
            <a:ext cx="8595360" cy="429768"/>
          </a:xfrm>
          <a:prstGeom prst="rect">
            <a:avLst/>
          </a:prstGeom>
          <a:solidFill>
            <a:srgbClr val="D6E4F7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3959352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3" name="Text 71"/>
          <p:cNvSpPr/>
          <p:nvPr/>
        </p:nvSpPr>
        <p:spPr>
          <a:xfrm>
            <a:off x="320040" y="39959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FGFR1 N546K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691640" y="39959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093976" y="399592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NM_023110.3 (MANE)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575304" y="399592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p.Asn546Lys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672584" y="39959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751576" y="3995928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93992" y="3995928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classified → correct negative result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" y="4407408"/>
            <a:ext cx="8595360" cy="429768"/>
          </a:xfrm>
          <a:prstGeom prst="rect">
            <a:avLst/>
          </a:prstGeom>
          <a:solidFill>
            <a:srgbClr val="FEE2E2"/>
          </a:solidFill>
          <a:ln w="3810">
            <a:solidFill>
              <a:srgbClr val="BDC3C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" y="4407408"/>
            <a:ext cx="45720" cy="4297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2" name="Text 80"/>
          <p:cNvSpPr/>
          <p:nvPr/>
        </p:nvSpPr>
        <p:spPr>
          <a:xfrm>
            <a:off x="320040" y="444398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691640" y="444398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✗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093976" y="444398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5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NM_001174067.2 (TSO500)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575304" y="444398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p.Asn577Lys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672584" y="44439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Oncogenic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751576" y="4443984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LEVEL_4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793992" y="4443984"/>
            <a:ext cx="23225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FALSE POSITIVE — wrong isoform generates spurious Level 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—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selection determines clinical outcome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126187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same genomic variant produces different protein changes — and different OncoKB levels — depending on which isoform is annotated. This is not a corner case; it affects common genes like EGFR, TP53, and structural variants.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93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whitelist prioritisation resolves ambiguity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226771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applies a curated NM whitelist (Tier 1), then MANE Select/Plus Clinical (Tier 2), then falls back to VEP's first result (Tier 3). The same logic is applied for both the OncoKB query and the final table output.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9992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are the most dangerous failure mode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327355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FGFR1 N546K: the TSO500 panel's own listed isoform returns Likely Oncogenic LEVEL_4 via p.Asn577Lys. Using the MANE Select transcript returns Unknown — the correct result. Wrong transcript → wrong therapy implication.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0050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version-tracked, and institution-agnostic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1248" y="427939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Docker container + offline VEP cache + #SMART_VERSION in every MAF header. Any institution can run the same analysis and obtain identical results regardless of their local environment.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github.com/kaine-veal/SMART  ·  University Hospital Southampton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Pipeline Walkthrough</dc:title>
  <dc:subject>PptxGenJS Presentation</dc:subject>
  <dc:creator>PptxGenJS</dc:creator>
  <cp:lastModifiedBy>PptxGenJS</cp:lastModifiedBy>
  <cp:revision>1</cp:revision>
  <dcterms:created xsi:type="dcterms:W3CDTF">2026-04-23T20:12:00Z</dcterms:created>
  <dcterms:modified xsi:type="dcterms:W3CDTF">2026-04-23T20:12:00Z</dcterms:modified>
</cp:coreProperties>
</file>